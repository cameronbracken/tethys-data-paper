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192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/>
    <p:restoredTop sz="94694"/>
  </p:normalViewPr>
  <p:slideViewPr>
    <p:cSldViewPr snapToGrid="0">
      <p:cViewPr varScale="1">
        <p:scale>
          <a:sx n="113" d="100"/>
          <a:sy n="113" d="100"/>
        </p:scale>
        <p:origin x="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7187"/>
            <a:ext cx="9144000" cy="25467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42174"/>
            <a:ext cx="9144000" cy="176614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01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6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23721"/>
            <a:ext cx="10515600" cy="30429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95428"/>
            <a:ext cx="10515600" cy="16001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5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9467"/>
            <a:ext cx="1051560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93241"/>
            <a:ext cx="5157787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72080"/>
            <a:ext cx="5157787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93241"/>
            <a:ext cx="5183188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72080"/>
            <a:ext cx="518318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3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9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53254"/>
            <a:ext cx="6172200" cy="51985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80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53254"/>
            <a:ext cx="6172200" cy="519853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9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0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9467"/>
            <a:ext cx="262890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9467"/>
            <a:ext cx="773430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2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9467"/>
            <a:ext cx="1051560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47333"/>
            <a:ext cx="1051560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FEDFE-2811-2B4B-8BDC-653C1115C53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780107"/>
            <a:ext cx="411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0D6DF-83BC-9642-901A-52A616154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2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E60E24-3CD0-1ED0-A487-47546650DDBD}"/>
              </a:ext>
            </a:extLst>
          </p:cNvPr>
          <p:cNvSpPr/>
          <p:nvPr/>
        </p:nvSpPr>
        <p:spPr>
          <a:xfrm>
            <a:off x="4440437" y="175111"/>
            <a:ext cx="2624328" cy="1072055"/>
          </a:xfrm>
          <a:prstGeom prst="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894A3-E0F1-5C2E-AE75-A465F4756FF4}"/>
              </a:ext>
            </a:extLst>
          </p:cNvPr>
          <p:cNvSpPr/>
          <p:nvPr/>
        </p:nvSpPr>
        <p:spPr>
          <a:xfrm>
            <a:off x="8297583" y="175111"/>
            <a:ext cx="2624328" cy="1072055"/>
          </a:xfrm>
          <a:prstGeom prst="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1FFDE1-8A36-41BC-709A-6C11F76259D4}"/>
              </a:ext>
            </a:extLst>
          </p:cNvPr>
          <p:cNvSpPr/>
          <p:nvPr/>
        </p:nvSpPr>
        <p:spPr>
          <a:xfrm>
            <a:off x="8297583" y="1898808"/>
            <a:ext cx="2624328" cy="1072055"/>
          </a:xfrm>
          <a:prstGeom prst="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B88B16-466C-EC77-448B-FAAF0EAF171D}"/>
              </a:ext>
            </a:extLst>
          </p:cNvPr>
          <p:cNvSpPr/>
          <p:nvPr/>
        </p:nvSpPr>
        <p:spPr>
          <a:xfrm>
            <a:off x="4437026" y="1825117"/>
            <a:ext cx="2624328" cy="1072055"/>
          </a:xfrm>
          <a:prstGeom prst="rect">
            <a:avLst/>
          </a:prstGeom>
          <a:solidFill>
            <a:schemeClr val="accent3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395909F-B9F0-44A5-918D-EC559E7D35C2}"/>
              </a:ext>
            </a:extLst>
          </p:cNvPr>
          <p:cNvSpPr/>
          <p:nvPr/>
        </p:nvSpPr>
        <p:spPr>
          <a:xfrm>
            <a:off x="4437026" y="5112795"/>
            <a:ext cx="2624328" cy="107205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2"/>
              </a:solidFill>
              <a:latin typeface="Helvetica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004D07-8961-88B5-C902-EAEF8DD8472E}"/>
              </a:ext>
            </a:extLst>
          </p:cNvPr>
          <p:cNvCxnSpPr>
            <a:endCxn id="5" idx="1"/>
          </p:cNvCxnSpPr>
          <p:nvPr/>
        </p:nvCxnSpPr>
        <p:spPr>
          <a:xfrm>
            <a:off x="3205055" y="711137"/>
            <a:ext cx="1235382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61D53D-59F6-6748-E9C7-9AB838E992DF}"/>
              </a:ext>
            </a:extLst>
          </p:cNvPr>
          <p:cNvCxnSpPr>
            <a:cxnSpLocks/>
          </p:cNvCxnSpPr>
          <p:nvPr/>
        </p:nvCxnSpPr>
        <p:spPr>
          <a:xfrm>
            <a:off x="7064765" y="533809"/>
            <a:ext cx="123281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4875CA-539F-0913-60E2-D7501A47B738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895455" y="1247166"/>
            <a:ext cx="1988" cy="65164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1CB371-E136-5A96-4047-2B74D0658DE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895455" y="2970865"/>
            <a:ext cx="4655" cy="97370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632C83-5A9B-1693-41A0-AD54FC7F52DD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5749190" y="1247166"/>
            <a:ext cx="3411" cy="57795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69F6E0-7634-112E-2EA2-9972C91D7E0D}"/>
              </a:ext>
            </a:extLst>
          </p:cNvPr>
          <p:cNvCxnSpPr>
            <a:cxnSpLocks/>
            <a:stCxn id="8" idx="2"/>
            <a:endCxn id="35" idx="0"/>
          </p:cNvCxnSpPr>
          <p:nvPr/>
        </p:nvCxnSpPr>
        <p:spPr>
          <a:xfrm>
            <a:off x="5749190" y="2897172"/>
            <a:ext cx="0" cy="5717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FF247B-4C30-6B38-7880-DB4560AD0996}"/>
              </a:ext>
            </a:extLst>
          </p:cNvPr>
          <p:cNvCxnSpPr>
            <a:cxnSpLocks/>
            <a:stCxn id="35" idx="2"/>
            <a:endCxn id="14" idx="0"/>
          </p:cNvCxnSpPr>
          <p:nvPr/>
        </p:nvCxnSpPr>
        <p:spPr>
          <a:xfrm>
            <a:off x="5749190" y="4541011"/>
            <a:ext cx="0" cy="5717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BFE8A52-7207-E1CE-3BDA-6FDBB226D7DF}"/>
              </a:ext>
            </a:extLst>
          </p:cNvPr>
          <p:cNvCxnSpPr>
            <a:cxnSpLocks/>
            <a:stCxn id="6" idx="3"/>
            <a:endCxn id="74" idx="3"/>
          </p:cNvCxnSpPr>
          <p:nvPr/>
        </p:nvCxnSpPr>
        <p:spPr>
          <a:xfrm flipH="1">
            <a:off x="10717649" y="711139"/>
            <a:ext cx="204262" cy="4244250"/>
          </a:xfrm>
          <a:prstGeom prst="bentConnector3">
            <a:avLst>
              <a:gd name="adj1" fmla="val -398698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482B0B6-1BFC-D83B-2C50-528DE482F937}"/>
              </a:ext>
            </a:extLst>
          </p:cNvPr>
          <p:cNvCxnSpPr>
            <a:cxnSpLocks/>
            <a:stCxn id="7" idx="3"/>
            <a:endCxn id="75" idx="3"/>
          </p:cNvCxnSpPr>
          <p:nvPr/>
        </p:nvCxnSpPr>
        <p:spPr>
          <a:xfrm flipH="1">
            <a:off x="10724471" y="2434836"/>
            <a:ext cx="197440" cy="2026714"/>
          </a:xfrm>
          <a:prstGeom prst="bentConnector3">
            <a:avLst>
              <a:gd name="adj1" fmla="val -246037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EFB76C9-5652-7D88-002F-255B2B4837F3}"/>
              </a:ext>
            </a:extLst>
          </p:cNvPr>
          <p:cNvGrpSpPr/>
          <p:nvPr/>
        </p:nvGrpSpPr>
        <p:grpSpPr>
          <a:xfrm>
            <a:off x="8297583" y="3513373"/>
            <a:ext cx="2624328" cy="2671477"/>
            <a:chOff x="8324330" y="3607296"/>
            <a:chExt cx="2624328" cy="267147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63E31A-153D-AE6E-291C-163FAA75B472}"/>
                </a:ext>
              </a:extLst>
            </p:cNvPr>
            <p:cNvSpPr/>
            <p:nvPr/>
          </p:nvSpPr>
          <p:spPr>
            <a:xfrm>
              <a:off x="8324330" y="3607296"/>
              <a:ext cx="2624328" cy="2671477"/>
            </a:xfrm>
            <a:prstGeom prst="rect">
              <a:avLst/>
            </a:prstGeom>
            <a:ln w="38100"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5DAE0A72-A412-B52F-A83D-23D846FE56D4}"/>
                </a:ext>
              </a:extLst>
            </p:cNvPr>
            <p:cNvSpPr/>
            <p:nvPr/>
          </p:nvSpPr>
          <p:spPr>
            <a:xfrm>
              <a:off x="8521770" y="5799000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Livestock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8CBC5D93-00E9-5852-1677-01B75EE9C739}"/>
                </a:ext>
              </a:extLst>
            </p:cNvPr>
            <p:cNvSpPr/>
            <p:nvPr/>
          </p:nvSpPr>
          <p:spPr>
            <a:xfrm>
              <a:off x="8521770" y="5321035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Population</a:t>
              </a: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15E23D92-EEFE-0DE6-0F59-97A24BE0E677}"/>
                </a:ext>
              </a:extLst>
            </p:cNvPr>
            <p:cNvSpPr/>
            <p:nvPr/>
          </p:nvSpPr>
          <p:spPr>
            <a:xfrm>
              <a:off x="8519496" y="4855332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Power Plants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275C2D59-09F3-CD4A-A97F-74AF99EAAA74}"/>
                </a:ext>
              </a:extLst>
            </p:cNvPr>
            <p:cNvSpPr/>
            <p:nvPr/>
          </p:nvSpPr>
          <p:spPr>
            <a:xfrm>
              <a:off x="8526318" y="4361493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Irrigated Area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2993FD-C7A8-F0AD-0302-C5F6B401D3A9}"/>
                </a:ext>
              </a:extLst>
            </p:cNvPr>
            <p:cNvSpPr txBox="1"/>
            <p:nvPr/>
          </p:nvSpPr>
          <p:spPr>
            <a:xfrm>
              <a:off x="8661580" y="3661125"/>
              <a:ext cx="19543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Helvetica" pitchFamily="2" charset="0"/>
                </a:rPr>
                <a:t>Gridded Spatial </a:t>
              </a:r>
            </a:p>
            <a:p>
              <a:pPr algn="ctr"/>
              <a:r>
                <a:rPr lang="en-US" b="1" dirty="0">
                  <a:latin typeface="Helvetica" pitchFamily="2" charset="0"/>
                </a:rPr>
                <a:t>Proxies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5FE5184-E6E7-CB1E-5980-7152D6AF8D2B}"/>
              </a:ext>
            </a:extLst>
          </p:cNvPr>
          <p:cNvGrpSpPr/>
          <p:nvPr/>
        </p:nvGrpSpPr>
        <p:grpSpPr>
          <a:xfrm>
            <a:off x="587946" y="3944570"/>
            <a:ext cx="2624328" cy="2240280"/>
            <a:chOff x="580727" y="3607296"/>
            <a:chExt cx="2624328" cy="224028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52301F-664C-E737-D49D-12AC71AB67AA}"/>
                </a:ext>
              </a:extLst>
            </p:cNvPr>
            <p:cNvSpPr/>
            <p:nvPr/>
          </p:nvSpPr>
          <p:spPr>
            <a:xfrm>
              <a:off x="580727" y="3607296"/>
              <a:ext cx="2624328" cy="2240280"/>
            </a:xfrm>
            <a:prstGeom prst="rect">
              <a:avLst/>
            </a:prstGeom>
            <a:ln w="38100"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ADFE8049-961C-4150-5932-B760D835E01E}"/>
                </a:ext>
              </a:extLst>
            </p:cNvPr>
            <p:cNvSpPr/>
            <p:nvPr/>
          </p:nvSpPr>
          <p:spPr>
            <a:xfrm>
              <a:off x="780440" y="4384511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PET, Rainfall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4B6E159-DE6E-6705-2A30-088A3DDE119D}"/>
                </a:ext>
              </a:extLst>
            </p:cNvPr>
            <p:cNvSpPr/>
            <p:nvPr/>
          </p:nvSpPr>
          <p:spPr>
            <a:xfrm>
              <a:off x="780440" y="4862897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Temperature</a:t>
              </a:r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4D501408-EAF4-DDF9-EF03-C25D0873438E}"/>
                </a:ext>
              </a:extLst>
            </p:cNvPr>
            <p:cNvSpPr/>
            <p:nvPr/>
          </p:nvSpPr>
          <p:spPr>
            <a:xfrm>
              <a:off x="780440" y="5355707"/>
              <a:ext cx="2224900" cy="3879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  <a:latin typeface="Helvetica" pitchFamily="2" charset="0"/>
                </a:rPr>
                <a:t>HDD, CDD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D08809C-7205-6C1A-1F23-30ACFD3F9CA5}"/>
                </a:ext>
              </a:extLst>
            </p:cNvPr>
            <p:cNvSpPr txBox="1"/>
            <p:nvPr/>
          </p:nvSpPr>
          <p:spPr>
            <a:xfrm>
              <a:off x="592920" y="3686277"/>
              <a:ext cx="25999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Helvetica" pitchFamily="2" charset="0"/>
                </a:rPr>
                <a:t>Monthly Atmospheric </a:t>
              </a:r>
            </a:p>
            <a:p>
              <a:pPr algn="ctr"/>
              <a:r>
                <a:rPr lang="en-US" b="1" dirty="0">
                  <a:latin typeface="Helvetica" pitchFamily="2" charset="0"/>
                </a:rPr>
                <a:t>Variables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3D38047-7D7D-E487-7991-57ED6651580A}"/>
              </a:ext>
            </a:extLst>
          </p:cNvPr>
          <p:cNvSpPr/>
          <p:nvPr/>
        </p:nvSpPr>
        <p:spPr>
          <a:xfrm>
            <a:off x="587945" y="175111"/>
            <a:ext cx="2618996" cy="1072055"/>
          </a:xfrm>
          <a:prstGeom prst="rect">
            <a:avLst/>
          </a:prstGeom>
          <a:ln w="38100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itchFamily="2" charset="0"/>
              </a:rPr>
              <a:t>8 Future Scenarios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E67899B-965F-C306-6629-509F4B094919}"/>
              </a:ext>
            </a:extLst>
          </p:cNvPr>
          <p:cNvGrpSpPr/>
          <p:nvPr/>
        </p:nvGrpSpPr>
        <p:grpSpPr>
          <a:xfrm>
            <a:off x="583291" y="1898810"/>
            <a:ext cx="2624328" cy="1072055"/>
            <a:chOff x="583291" y="1898810"/>
            <a:chExt cx="2624328" cy="107205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4BB86EA-DB4C-D14F-4D7C-0690986E3C84}"/>
                </a:ext>
              </a:extLst>
            </p:cNvPr>
            <p:cNvSpPr/>
            <p:nvPr/>
          </p:nvSpPr>
          <p:spPr>
            <a:xfrm>
              <a:off x="583291" y="1898810"/>
              <a:ext cx="2624328" cy="107205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6EA1F62-0FF5-00B8-B420-D374016CD50C}"/>
                </a:ext>
              </a:extLst>
            </p:cNvPr>
            <p:cNvSpPr txBox="1"/>
            <p:nvPr/>
          </p:nvSpPr>
          <p:spPr>
            <a:xfrm>
              <a:off x="813109" y="1971260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/>
                  </a:solidFill>
                  <a:latin typeface="Helvetica" pitchFamily="2" charset="0"/>
                </a:rPr>
                <a:t>TGW Simulations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4D19B99-FC97-A836-E6D4-68557FA65205}"/>
                </a:ext>
              </a:extLst>
            </p:cNvPr>
            <p:cNvSpPr txBox="1"/>
            <p:nvPr/>
          </p:nvSpPr>
          <p:spPr>
            <a:xfrm>
              <a:off x="650475" y="2291766"/>
              <a:ext cx="25564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  <a:latin typeface="Helvetica" pitchFamily="2" charset="0"/>
                </a:rPr>
                <a:t>Historical and Future Meteorological Conditions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80BC6E6-D6B1-E40E-22B5-7E32285A7B50}"/>
              </a:ext>
            </a:extLst>
          </p:cNvPr>
          <p:cNvGrpSpPr/>
          <p:nvPr/>
        </p:nvGrpSpPr>
        <p:grpSpPr>
          <a:xfrm>
            <a:off x="4385717" y="3468956"/>
            <a:ext cx="2758127" cy="1072055"/>
            <a:chOff x="4385717" y="3468956"/>
            <a:chExt cx="2758127" cy="107205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8C931F3-80C5-AB9D-2D34-594FCA852749}"/>
                </a:ext>
              </a:extLst>
            </p:cNvPr>
            <p:cNvSpPr/>
            <p:nvPr/>
          </p:nvSpPr>
          <p:spPr>
            <a:xfrm>
              <a:off x="4437026" y="3468956"/>
              <a:ext cx="2624328" cy="1072055"/>
            </a:xfrm>
            <a:prstGeom prst="rect">
              <a:avLst/>
            </a:prstGeom>
            <a:solidFill>
              <a:schemeClr val="accent3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E07A5FE-A6C8-B6FE-4968-68271C19AF11}"/>
                </a:ext>
              </a:extLst>
            </p:cNvPr>
            <p:cNvSpPr txBox="1"/>
            <p:nvPr/>
          </p:nvSpPr>
          <p:spPr>
            <a:xfrm>
              <a:off x="4385717" y="3712192"/>
              <a:ext cx="2758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/>
                  </a:solidFill>
                  <a:latin typeface="Helvetica" pitchFamily="2" charset="0"/>
                </a:rPr>
                <a:t>Temporal Downscaling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0E0333E-9A55-7478-A6FF-A597B74B7BAA}"/>
                </a:ext>
              </a:extLst>
            </p:cNvPr>
            <p:cNvSpPr txBox="1"/>
            <p:nvPr/>
          </p:nvSpPr>
          <p:spPr>
            <a:xfrm>
              <a:off x="4868074" y="4018646"/>
              <a:ext cx="1847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2"/>
                  </a:solidFill>
                  <a:latin typeface="Helvetica" pitchFamily="2" charset="0"/>
                </a:rPr>
                <a:t>Annual to Monthly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48E0DC9-802A-A319-6351-159BED289D93}"/>
              </a:ext>
            </a:extLst>
          </p:cNvPr>
          <p:cNvSpPr txBox="1"/>
          <p:nvPr/>
        </p:nvSpPr>
        <p:spPr>
          <a:xfrm>
            <a:off x="4501958" y="2026608"/>
            <a:ext cx="2492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Helvetica" pitchFamily="2" charset="0"/>
              </a:rPr>
              <a:t>Spatial Downscaling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B6B9839-8158-B5E2-A283-5A0DCEF1270E}"/>
              </a:ext>
            </a:extLst>
          </p:cNvPr>
          <p:cNvSpPr txBox="1"/>
          <p:nvPr/>
        </p:nvSpPr>
        <p:spPr>
          <a:xfrm>
            <a:off x="4488585" y="2347350"/>
            <a:ext cx="24929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Helvetica" pitchFamily="2" charset="0"/>
              </a:rPr>
              <a:t>Regional to 1/8</a:t>
            </a:r>
            <a:r>
              <a:rPr lang="en-US" sz="1600" baseline="30000" dirty="0">
                <a:solidFill>
                  <a:schemeClr val="bg2"/>
                </a:solidFill>
                <a:latin typeface="Helvetica" pitchFamily="2" charset="0"/>
              </a:rPr>
              <a:t>th</a:t>
            </a:r>
            <a:r>
              <a:rPr lang="en-US" sz="1600" dirty="0">
                <a:solidFill>
                  <a:schemeClr val="bg2"/>
                </a:solidFill>
                <a:latin typeface="Helvetica" pitchFamily="2" charset="0"/>
              </a:rPr>
              <a:t> degree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92CF742-6FA8-DA32-E332-B2924DCC07DC}"/>
              </a:ext>
            </a:extLst>
          </p:cNvPr>
          <p:cNvSpPr txBox="1"/>
          <p:nvPr/>
        </p:nvSpPr>
        <p:spPr>
          <a:xfrm>
            <a:off x="4997314" y="222483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Helvetica" pitchFamily="2" charset="0"/>
              </a:rPr>
              <a:t>GCAM-USA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E4D7E8B-C7FC-BA72-6A4D-4EEABC31BD9E}"/>
              </a:ext>
            </a:extLst>
          </p:cNvPr>
          <p:cNvSpPr txBox="1"/>
          <p:nvPr/>
        </p:nvSpPr>
        <p:spPr>
          <a:xfrm>
            <a:off x="4659808" y="533809"/>
            <a:ext cx="2183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Helvetica" pitchFamily="2" charset="0"/>
              </a:rPr>
              <a:t>Global, long-term, multi-sector dynamics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829F01F-89E4-98B9-D974-B157BEF5C510}"/>
              </a:ext>
            </a:extLst>
          </p:cNvPr>
          <p:cNvSpPr txBox="1"/>
          <p:nvPr/>
        </p:nvSpPr>
        <p:spPr>
          <a:xfrm>
            <a:off x="9228698" y="35485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Helvetica" pitchFamily="2" charset="0"/>
              </a:rPr>
              <a:t>CERF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76EDC77-F6FA-2388-5AF5-353900F216A4}"/>
              </a:ext>
            </a:extLst>
          </p:cNvPr>
          <p:cNvSpPr txBox="1"/>
          <p:nvPr/>
        </p:nvSpPr>
        <p:spPr>
          <a:xfrm>
            <a:off x="8738513" y="675594"/>
            <a:ext cx="1847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Helvetica" pitchFamily="2" charset="0"/>
              </a:rPr>
              <a:t>Power plant siting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9AF4ED0-27C5-A6D2-FF50-F8579D92295A}"/>
              </a:ext>
            </a:extLst>
          </p:cNvPr>
          <p:cNvSpPr txBox="1"/>
          <p:nvPr/>
        </p:nvSpPr>
        <p:spPr>
          <a:xfrm>
            <a:off x="9084617" y="2117103"/>
            <a:ext cx="1107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Helvetica" pitchFamily="2" charset="0"/>
              </a:rPr>
              <a:t>Demeter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63222D7-B69B-0EA7-1F30-64CA11C1A54F}"/>
              </a:ext>
            </a:extLst>
          </p:cNvPr>
          <p:cNvSpPr txBox="1"/>
          <p:nvPr/>
        </p:nvSpPr>
        <p:spPr>
          <a:xfrm>
            <a:off x="8463427" y="2431664"/>
            <a:ext cx="2287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Helvetica" pitchFamily="2" charset="0"/>
              </a:rPr>
              <a:t>Land-use downscaling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18704324-82C4-72AB-BE89-511D3F90D935}"/>
              </a:ext>
            </a:extLst>
          </p:cNvPr>
          <p:cNvCxnSpPr>
            <a:cxnSpLocks/>
            <a:stCxn id="13" idx="1"/>
            <a:endCxn id="8" idx="3"/>
          </p:cNvCxnSpPr>
          <p:nvPr/>
        </p:nvCxnSpPr>
        <p:spPr>
          <a:xfrm rot="10800000">
            <a:off x="7061355" y="2361146"/>
            <a:ext cx="1236229" cy="2487967"/>
          </a:xfrm>
          <a:prstGeom prst="bentConnector3">
            <a:avLst>
              <a:gd name="adj1" fmla="val 67336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B6E2162E-FC34-2059-C9DF-5FC9377BA17F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064765" y="711139"/>
            <a:ext cx="1232818" cy="1723697"/>
          </a:xfrm>
          <a:prstGeom prst="bentConnector3">
            <a:avLst>
              <a:gd name="adj1" fmla="val 70016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F6FDFC-044D-CD28-D7D9-9A8D6B69D58D}"/>
              </a:ext>
            </a:extLst>
          </p:cNvPr>
          <p:cNvGrpSpPr/>
          <p:nvPr/>
        </p:nvGrpSpPr>
        <p:grpSpPr>
          <a:xfrm>
            <a:off x="6954082" y="6604741"/>
            <a:ext cx="2274616" cy="381164"/>
            <a:chOff x="619162" y="6285333"/>
            <a:chExt cx="2274616" cy="381164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6D2508BF-0118-89DA-5127-5E7D2ABFC09E}"/>
                </a:ext>
              </a:extLst>
            </p:cNvPr>
            <p:cNvSpPr/>
            <p:nvPr/>
          </p:nvSpPr>
          <p:spPr>
            <a:xfrm>
              <a:off x="619162" y="6285333"/>
              <a:ext cx="365760" cy="36576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bg2"/>
                </a:solidFill>
                <a:latin typeface="Helvetica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E6CDA8F-DCB8-813B-F7C4-CCFDB55D542B}"/>
                </a:ext>
              </a:extLst>
            </p:cNvPr>
            <p:cNvSpPr txBox="1"/>
            <p:nvPr/>
          </p:nvSpPr>
          <p:spPr>
            <a:xfrm>
              <a:off x="984922" y="6297165"/>
              <a:ext cx="19088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Dataset/Variable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5E9EF34-47B7-0566-BA2A-9E7EF243687E}"/>
              </a:ext>
            </a:extLst>
          </p:cNvPr>
          <p:cNvGrpSpPr/>
          <p:nvPr/>
        </p:nvGrpSpPr>
        <p:grpSpPr>
          <a:xfrm>
            <a:off x="3151740" y="6605437"/>
            <a:ext cx="2268973" cy="369332"/>
            <a:chOff x="619162" y="6759191"/>
            <a:chExt cx="2268973" cy="36933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CA78296-126B-E495-2A29-A003FCDFC6C8}"/>
                </a:ext>
              </a:extLst>
            </p:cNvPr>
            <p:cNvSpPr/>
            <p:nvPr/>
          </p:nvSpPr>
          <p:spPr>
            <a:xfrm>
              <a:off x="619162" y="6760977"/>
              <a:ext cx="365760" cy="365760"/>
            </a:xfrm>
            <a:prstGeom prst="rect">
              <a:avLst/>
            </a:prstGeom>
            <a:solidFill>
              <a:schemeClr val="accent3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E4A19C1-3499-34DC-16F1-7503BB60363D}"/>
                </a:ext>
              </a:extLst>
            </p:cNvPr>
            <p:cNvSpPr txBox="1"/>
            <p:nvPr/>
          </p:nvSpPr>
          <p:spPr>
            <a:xfrm>
              <a:off x="984922" y="6759191"/>
              <a:ext cx="1903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Tethys Operation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4D9D50B-7CCF-B263-95EC-622B60016232}"/>
              </a:ext>
            </a:extLst>
          </p:cNvPr>
          <p:cNvGrpSpPr/>
          <p:nvPr/>
        </p:nvGrpSpPr>
        <p:grpSpPr>
          <a:xfrm>
            <a:off x="5603593" y="6610657"/>
            <a:ext cx="1170789" cy="371652"/>
            <a:chOff x="2908555" y="6296048"/>
            <a:chExt cx="1170789" cy="37165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8E9C752-2900-ACE5-0BA3-08564FB30E5F}"/>
                </a:ext>
              </a:extLst>
            </p:cNvPr>
            <p:cNvSpPr/>
            <p:nvPr/>
          </p:nvSpPr>
          <p:spPr>
            <a:xfrm>
              <a:off x="2908555" y="6301940"/>
              <a:ext cx="365760" cy="365760"/>
            </a:xfrm>
            <a:prstGeom prst="rect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C6031AB-FEE8-F13A-E307-EA150CEE1A10}"/>
                </a:ext>
              </a:extLst>
            </p:cNvPr>
            <p:cNvSpPr txBox="1"/>
            <p:nvPr/>
          </p:nvSpPr>
          <p:spPr>
            <a:xfrm>
              <a:off x="3274315" y="6296048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Model</a:t>
              </a:r>
            </a:p>
          </p:txBody>
        </p:sp>
      </p:grp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34DBA96A-FA1A-1B31-FA36-B46968D63094}"/>
              </a:ext>
            </a:extLst>
          </p:cNvPr>
          <p:cNvCxnSpPr>
            <a:cxnSpLocks/>
            <a:stCxn id="11" idx="3"/>
            <a:endCxn id="103" idx="1"/>
          </p:cNvCxnSpPr>
          <p:nvPr/>
        </p:nvCxnSpPr>
        <p:spPr>
          <a:xfrm flipV="1">
            <a:off x="3212274" y="3896858"/>
            <a:ext cx="1173443" cy="1167852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2693407-B962-17B8-BA3E-4DFB65891219}"/>
              </a:ext>
            </a:extLst>
          </p:cNvPr>
          <p:cNvSpPr txBox="1"/>
          <p:nvPr/>
        </p:nvSpPr>
        <p:spPr>
          <a:xfrm>
            <a:off x="4815142" y="5209982"/>
            <a:ext cx="187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Helvetica" pitchFamily="2" charset="0"/>
              </a:rPr>
              <a:t>Tethys Dataset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0B0031C-9340-17A6-05E6-96B4A3A81519}"/>
              </a:ext>
            </a:extLst>
          </p:cNvPr>
          <p:cNvSpPr txBox="1"/>
          <p:nvPr/>
        </p:nvSpPr>
        <p:spPr>
          <a:xfrm>
            <a:off x="4685419" y="5525979"/>
            <a:ext cx="2126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  <a:latin typeface="Helvetica" pitchFamily="2" charset="0"/>
              </a:rPr>
              <a:t>Gridded multisectoral water demands</a:t>
            </a:r>
          </a:p>
        </p:txBody>
      </p:sp>
    </p:spTree>
    <p:extLst>
      <p:ext uri="{BB962C8B-B14F-4D97-AF65-F5344CB8AC3E}">
        <p14:creationId xmlns:p14="http://schemas.microsoft.com/office/powerpoint/2010/main" val="375053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522</TotalTime>
  <Words>66</Words>
  <Application>Microsoft Macintosh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Bracken, Cameron W</dc:creator>
  <cp:lastModifiedBy>Bracken, Cameron</cp:lastModifiedBy>
  <cp:revision>7</cp:revision>
  <dcterms:created xsi:type="dcterms:W3CDTF">2025-01-09T16:54:22Z</dcterms:created>
  <dcterms:modified xsi:type="dcterms:W3CDTF">2025-12-13T00:42:46Z</dcterms:modified>
</cp:coreProperties>
</file>